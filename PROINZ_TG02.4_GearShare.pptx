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8"/>
  </p:notesMasterIdLst>
  <p:sldIdLst>
    <p:sldId id="265" r:id="rId3"/>
    <p:sldId id="257" r:id="rId4"/>
    <p:sldId id="266" r:id="rId5"/>
    <p:sldId id="267" r:id="rId6"/>
    <p:sldId id="268" r:id="rId7"/>
    <p:sldId id="259" r:id="rId8"/>
    <p:sldId id="276" r:id="rId9"/>
    <p:sldId id="269" r:id="rId10"/>
    <p:sldId id="261" r:id="rId11"/>
    <p:sldId id="275" r:id="rId12"/>
    <p:sldId id="277" r:id="rId13"/>
    <p:sldId id="260" r:id="rId14"/>
    <p:sldId id="262" r:id="rId15"/>
    <p:sldId id="263" r:id="rId16"/>
    <p:sldId id="264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5" autoAdjust="0"/>
    <p:restoredTop sz="97366" autoAdjust="0"/>
  </p:normalViewPr>
  <p:slideViewPr>
    <p:cSldViewPr snapToGrid="0">
      <p:cViewPr>
        <p:scale>
          <a:sx n="33" d="100"/>
          <a:sy n="33" d="100"/>
        </p:scale>
        <p:origin x="3408" y="2026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76773046958195"/>
          <c:y val="2.9149141008787804E-2"/>
          <c:w val="0.87589807976248502"/>
          <c:h val="0.8317279751784589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Specifikacija</c:v>
                </c:pt>
                <c:pt idx="1">
                  <c:v>Implementacija</c:v>
                </c:pt>
                <c:pt idx="2">
                  <c:v>Testiranje</c:v>
                </c:pt>
                <c:pt idx="3">
                  <c:v>Dokumentacija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19-4E35-A557-85D9F69E03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Specifikacija</c:v>
                </c:pt>
                <c:pt idx="1">
                  <c:v>Implementacija</c:v>
                </c:pt>
                <c:pt idx="2">
                  <c:v>Testiranje</c:v>
                </c:pt>
                <c:pt idx="3">
                  <c:v>Dokumentacija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19-4E35-A557-85D9F69E03D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Specifikacija</c:v>
                </c:pt>
                <c:pt idx="1">
                  <c:v>Implementacija</c:v>
                </c:pt>
                <c:pt idx="2">
                  <c:v>Testiranje</c:v>
                </c:pt>
                <c:pt idx="3">
                  <c:v>Dokumentacija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</c:v>
                </c:pt>
                <c:pt idx="1">
                  <c:v>190</c:v>
                </c:pt>
                <c:pt idx="2">
                  <c:v>7</c:v>
                </c:pt>
                <c:pt idx="3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19-4E35-A557-85D9F69E03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88389760"/>
        <c:axId val="588387792"/>
      </c:barChart>
      <c:catAx>
        <c:axId val="588389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8387792"/>
        <c:crosses val="autoZero"/>
        <c:auto val="1"/>
        <c:lblAlgn val="ctr"/>
        <c:lblOffset val="100"/>
        <c:noMultiLvlLbl val="0"/>
      </c:catAx>
      <c:valAx>
        <c:axId val="588387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8389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 smtClean="0"/>
              <a:t>GEARSHARE</a:t>
            </a:r>
            <a:endParaRPr lang="hr-HR" sz="4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 smtClean="0"/>
              <a:t>02</a:t>
            </a:r>
            <a:r>
              <a:rPr lang="hr-HR" sz="1400" noProof="0" dirty="0" smtClean="0"/>
              <a:t>.4 Tim Aight</a:t>
            </a:r>
            <a:endParaRPr lang="hr-HR" sz="1400" noProof="0" dirty="0"/>
          </a:p>
          <a:p>
            <a:r>
              <a:rPr lang="hr-HR" noProof="0" dirty="0"/>
              <a:t>Ak. god. 2025./2025.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Matija</a:t>
            </a:r>
            <a:r>
              <a:rPr lang="en-US" dirty="0"/>
              <a:t> </a:t>
            </a:r>
            <a:r>
              <a:rPr lang="en-US" dirty="0" err="1"/>
              <a:t>Antun</a:t>
            </a:r>
            <a:r>
              <a:rPr lang="en-US" dirty="0"/>
              <a:t> </a:t>
            </a:r>
            <a:r>
              <a:rPr lang="en-US" dirty="0" err="1"/>
              <a:t>Dürrigl</a:t>
            </a:r>
            <a:r>
              <a:rPr lang="en-US" dirty="0"/>
              <a:t> - Backend /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r>
              <a:rPr lang="en-US" dirty="0"/>
              <a:t>Potjeh </a:t>
            </a:r>
            <a:r>
              <a:rPr lang="en-US" dirty="0" err="1"/>
              <a:t>Jureković</a:t>
            </a:r>
            <a:r>
              <a:rPr lang="en-US" dirty="0"/>
              <a:t> - Backend</a:t>
            </a:r>
          </a:p>
          <a:p>
            <a:r>
              <a:rPr lang="en-US" dirty="0"/>
              <a:t>Nikola </a:t>
            </a:r>
            <a:r>
              <a:rPr lang="en-US" dirty="0" err="1"/>
              <a:t>Kramarić</a:t>
            </a:r>
            <a:r>
              <a:rPr lang="en-US" dirty="0"/>
              <a:t> - Backend</a:t>
            </a:r>
          </a:p>
          <a:p>
            <a:r>
              <a:rPr lang="en-US" dirty="0"/>
              <a:t>Laura </a:t>
            </a:r>
            <a:r>
              <a:rPr lang="en-US" dirty="0" err="1"/>
              <a:t>Lučin</a:t>
            </a:r>
            <a:r>
              <a:rPr lang="en-US" dirty="0"/>
              <a:t> - Full stack / </a:t>
            </a:r>
            <a:r>
              <a:rPr lang="en-US" dirty="0" err="1"/>
              <a:t>Voditeljica</a:t>
            </a:r>
            <a:endParaRPr lang="en-US" dirty="0"/>
          </a:p>
          <a:p>
            <a:r>
              <a:rPr lang="en-US" dirty="0" err="1"/>
              <a:t>Lani</a:t>
            </a:r>
            <a:r>
              <a:rPr lang="en-US" dirty="0"/>
              <a:t> </a:t>
            </a:r>
            <a:r>
              <a:rPr lang="en-US" dirty="0" err="1"/>
              <a:t>Miliša</a:t>
            </a:r>
            <a:r>
              <a:rPr lang="en-US" dirty="0"/>
              <a:t> - Frontend</a:t>
            </a:r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sr-Latn-RS" altLang="sr-Latn-RS" dirty="0"/>
              <a:t>Ukratko: </a:t>
            </a:r>
            <a:r>
              <a:rPr lang="hr-HR" altLang="sr-Latn-RS" b="1" dirty="0" smtClean="0"/>
              <a:t>Gearshare spaja trgovce s opremom s klijentima</a:t>
            </a:r>
            <a:endParaRPr lang="hr-HR" altLang="sr-Latn-RS" b="1" dirty="0"/>
          </a:p>
          <a:p>
            <a:pPr lvl="0"/>
            <a:r>
              <a:rPr lang="hr-HR" altLang="sr-Latn-RS" dirty="0"/>
              <a:t>Cilj: </a:t>
            </a:r>
            <a:r>
              <a:rPr lang="hr-HR" altLang="sr-Latn-RS" dirty="0" smtClean="0"/>
              <a:t>Aplikacija služi kako bi trgovcima pružila još jedan način dolaska do klijenata, a prednost za klijenta je da može pretraživati mnoštvo oglasa od više iznajmljivača u isto vrijeme.</a:t>
            </a:r>
            <a:endParaRPr lang="hr-HR" altLang="sr-Latn-RS" dirty="0"/>
          </a:p>
          <a:p>
            <a:pPr lvl="0"/>
            <a:r>
              <a:rPr lang="hr-HR" altLang="sr-Latn-RS" dirty="0" smtClean="0"/>
              <a:t>Najčešće rješenje je da svaka trgovina/iznajmljivač imaju svoju web stranicu za iznajmljivanje</a:t>
            </a:r>
          </a:p>
          <a:p>
            <a:pPr lvl="0"/>
            <a:r>
              <a:rPr lang="hr-HR" altLang="sr-Latn-RS" dirty="0" smtClean="0"/>
              <a:t>Naša prednost je da pružamo kupcu veliki izbor i lako pretraživanje kroz više opcija trgovca</a:t>
            </a:r>
            <a:endParaRPr lang="hr-HR" alt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059" y="-91421"/>
            <a:ext cx="7920000" cy="828262"/>
          </a:xfrm>
        </p:spPr>
        <p:txBody>
          <a:bodyPr/>
          <a:lstStyle/>
          <a:p>
            <a:r>
              <a:rPr lang="hr-HR" noProof="0" dirty="0" smtClean="0"/>
              <a:t>Pregled GLAVNIH FUNKCIJSKIH </a:t>
            </a:r>
            <a:r>
              <a:rPr lang="hr-HR" noProof="0" dirty="0"/>
              <a:t>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1101037"/>
            <a:ext cx="9000000" cy="5688001"/>
          </a:xfrm>
        </p:spPr>
        <p:txBody>
          <a:bodyPr/>
          <a:lstStyle/>
          <a:p>
            <a:r>
              <a:rPr lang="hr-HR" sz="2000" b="1" dirty="0" smtClean="0"/>
              <a:t>F-001: </a:t>
            </a:r>
          </a:p>
          <a:p>
            <a:endParaRPr lang="hr-HR" noProof="0" dirty="0"/>
          </a:p>
          <a:p>
            <a:r>
              <a:rPr lang="hr-HR" sz="2000" b="1" dirty="0" smtClean="0"/>
              <a:t>F-012:</a:t>
            </a:r>
          </a:p>
          <a:p>
            <a:endParaRPr lang="hr-HR" sz="2000" b="1" dirty="0"/>
          </a:p>
          <a:p>
            <a:pPr marL="0" indent="0">
              <a:buNone/>
            </a:pPr>
            <a:endParaRPr lang="hr-HR" sz="2000" b="1" dirty="0" smtClean="0"/>
          </a:p>
          <a:p>
            <a:endParaRPr lang="hr-HR" sz="2000" b="1" dirty="0"/>
          </a:p>
          <a:p>
            <a:endParaRPr lang="hr-HR" sz="2000" b="1" dirty="0" smtClean="0"/>
          </a:p>
          <a:p>
            <a:r>
              <a:rPr lang="hr-HR" sz="2000" b="1" dirty="0" smtClean="0"/>
              <a:t>F-003: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49963"/>
              </p:ext>
            </p:extLst>
          </p:nvPr>
        </p:nvGraphicFramePr>
        <p:xfrm>
          <a:off x="1715513" y="942393"/>
          <a:ext cx="7084020" cy="1000686"/>
        </p:xfrm>
        <a:graphic>
          <a:graphicData uri="http://schemas.openxmlformats.org/drawingml/2006/table">
            <a:tbl>
              <a:tblPr/>
              <a:tblGrid>
                <a:gridCol w="1771005">
                  <a:extLst>
                    <a:ext uri="{9D8B030D-6E8A-4147-A177-3AD203B41FA5}">
                      <a16:colId xmlns:a16="http://schemas.microsoft.com/office/drawing/2014/main" val="2727643952"/>
                    </a:ext>
                  </a:extLst>
                </a:gridCol>
                <a:gridCol w="1771005">
                  <a:extLst>
                    <a:ext uri="{9D8B030D-6E8A-4147-A177-3AD203B41FA5}">
                      <a16:colId xmlns:a16="http://schemas.microsoft.com/office/drawing/2014/main" val="943853881"/>
                    </a:ext>
                  </a:extLst>
                </a:gridCol>
                <a:gridCol w="1771005">
                  <a:extLst>
                    <a:ext uri="{9D8B030D-6E8A-4147-A177-3AD203B41FA5}">
                      <a16:colId xmlns:a16="http://schemas.microsoft.com/office/drawing/2014/main" val="1072704815"/>
                    </a:ext>
                  </a:extLst>
                </a:gridCol>
                <a:gridCol w="1771005">
                  <a:extLst>
                    <a:ext uri="{9D8B030D-6E8A-4147-A177-3AD203B41FA5}">
                      <a16:colId xmlns:a16="http://schemas.microsoft.com/office/drawing/2014/main" val="1083622738"/>
                    </a:ext>
                  </a:extLst>
                </a:gridCol>
              </a:tblGrid>
              <a:tr h="559927">
                <a:tc>
                  <a:txBody>
                    <a:bodyPr/>
                    <a:lstStyle/>
                    <a:p>
                      <a:r>
                        <a:rPr lang="en-US" sz="1200" b="1" dirty="0" err="1"/>
                        <a:t>Sustav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omogućuje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korisnicima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registraciju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kao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trgovac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ili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klijent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putem</a:t>
                      </a:r>
                      <a:r>
                        <a:rPr lang="en-US" sz="1200" b="1" dirty="0"/>
                        <a:t> OAuth 2.0 </a:t>
                      </a:r>
                      <a:r>
                        <a:rPr lang="en-US" sz="1200" b="1" dirty="0" err="1"/>
                        <a:t>autentifikacije</a:t>
                      </a:r>
                      <a:r>
                        <a:rPr lang="en-US" sz="1200" b="1" dirty="0"/>
                        <a:t>.</a:t>
                      </a:r>
                    </a:p>
                  </a:txBody>
                  <a:tcPr marL="86286" marR="86286" marT="43143" marB="43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Visok</a:t>
                      </a:r>
                      <a:endParaRPr lang="en-US" sz="2000" dirty="0"/>
                    </a:p>
                  </a:txBody>
                  <a:tcPr marL="86286" marR="86286" marT="43143" marB="43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Zahtjev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dionika</a:t>
                      </a:r>
                      <a:endParaRPr lang="en-US" sz="1400" b="1" dirty="0"/>
                    </a:p>
                  </a:txBody>
                  <a:tcPr marL="86286" marR="86286" marT="43143" marB="43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/>
                        <a:t>Korisnik</a:t>
                      </a:r>
                      <a:r>
                        <a:rPr lang="en-US" sz="1200" b="1" dirty="0"/>
                        <a:t> se </a:t>
                      </a:r>
                      <a:r>
                        <a:rPr lang="en-US" sz="1200" b="1" dirty="0" err="1"/>
                        <a:t>može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prijaviti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koristeći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vanjski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servis</a:t>
                      </a:r>
                      <a:r>
                        <a:rPr lang="en-US" sz="1200" b="1" dirty="0"/>
                        <a:t> (</a:t>
                      </a:r>
                      <a:r>
                        <a:rPr lang="en-US" sz="1200" b="1" dirty="0" err="1"/>
                        <a:t>npr</a:t>
                      </a:r>
                      <a:r>
                        <a:rPr lang="en-US" sz="1200" b="1" dirty="0"/>
                        <a:t>. Google), </a:t>
                      </a:r>
                      <a:r>
                        <a:rPr lang="en-US" sz="1200" b="1" dirty="0" err="1"/>
                        <a:t>sustav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kreira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profil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ovisno</a:t>
                      </a:r>
                      <a:r>
                        <a:rPr lang="en-US" sz="1200" b="1" dirty="0"/>
                        <a:t> o </a:t>
                      </a:r>
                      <a:r>
                        <a:rPr lang="en-US" sz="1200" b="1" dirty="0" err="1"/>
                        <a:t>ulozi</a:t>
                      </a:r>
                      <a:r>
                        <a:rPr lang="en-US" sz="1200" b="1" dirty="0"/>
                        <a:t>.</a:t>
                      </a:r>
                    </a:p>
                  </a:txBody>
                  <a:tcPr marL="86286" marR="86286" marT="43143" marB="43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819397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013841"/>
              </p:ext>
            </p:extLst>
          </p:nvPr>
        </p:nvGraphicFramePr>
        <p:xfrm>
          <a:off x="1693631" y="602681"/>
          <a:ext cx="7062136" cy="304800"/>
        </p:xfrm>
        <a:graphic>
          <a:graphicData uri="http://schemas.openxmlformats.org/drawingml/2006/table">
            <a:tbl>
              <a:tblPr/>
              <a:tblGrid>
                <a:gridCol w="1765534">
                  <a:extLst>
                    <a:ext uri="{9D8B030D-6E8A-4147-A177-3AD203B41FA5}">
                      <a16:colId xmlns:a16="http://schemas.microsoft.com/office/drawing/2014/main" val="174953727"/>
                    </a:ext>
                  </a:extLst>
                </a:gridCol>
                <a:gridCol w="1765534">
                  <a:extLst>
                    <a:ext uri="{9D8B030D-6E8A-4147-A177-3AD203B41FA5}">
                      <a16:colId xmlns:a16="http://schemas.microsoft.com/office/drawing/2014/main" val="1389318805"/>
                    </a:ext>
                  </a:extLst>
                </a:gridCol>
                <a:gridCol w="1765534">
                  <a:extLst>
                    <a:ext uri="{9D8B030D-6E8A-4147-A177-3AD203B41FA5}">
                      <a16:colId xmlns:a16="http://schemas.microsoft.com/office/drawing/2014/main" val="196518312"/>
                    </a:ext>
                  </a:extLst>
                </a:gridCol>
                <a:gridCol w="1765534">
                  <a:extLst>
                    <a:ext uri="{9D8B030D-6E8A-4147-A177-3AD203B41FA5}">
                      <a16:colId xmlns:a16="http://schemas.microsoft.com/office/drawing/2014/main" val="20477034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Opis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Prioritet</a:t>
                      </a:r>
                      <a:endParaRPr lang="en-US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Izvor</a:t>
                      </a:r>
                      <a:endParaRPr lang="en-US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Kriteriji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prihvaćanja</a:t>
                      </a:r>
                      <a:endParaRPr lang="en-US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496566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71507"/>
              </p:ext>
            </p:extLst>
          </p:nvPr>
        </p:nvGraphicFramePr>
        <p:xfrm>
          <a:off x="1715513" y="1870938"/>
          <a:ext cx="7084020" cy="1188720"/>
        </p:xfrm>
        <a:graphic>
          <a:graphicData uri="http://schemas.openxmlformats.org/drawingml/2006/table">
            <a:tbl>
              <a:tblPr/>
              <a:tblGrid>
                <a:gridCol w="1771005">
                  <a:extLst>
                    <a:ext uri="{9D8B030D-6E8A-4147-A177-3AD203B41FA5}">
                      <a16:colId xmlns:a16="http://schemas.microsoft.com/office/drawing/2014/main" val="3296254038"/>
                    </a:ext>
                  </a:extLst>
                </a:gridCol>
                <a:gridCol w="1771005">
                  <a:extLst>
                    <a:ext uri="{9D8B030D-6E8A-4147-A177-3AD203B41FA5}">
                      <a16:colId xmlns:a16="http://schemas.microsoft.com/office/drawing/2014/main" val="2362170012"/>
                    </a:ext>
                  </a:extLst>
                </a:gridCol>
                <a:gridCol w="1771005">
                  <a:extLst>
                    <a:ext uri="{9D8B030D-6E8A-4147-A177-3AD203B41FA5}">
                      <a16:colId xmlns:a16="http://schemas.microsoft.com/office/drawing/2014/main" val="2685409410"/>
                    </a:ext>
                  </a:extLst>
                </a:gridCol>
                <a:gridCol w="1771005">
                  <a:extLst>
                    <a:ext uri="{9D8B030D-6E8A-4147-A177-3AD203B41FA5}">
                      <a16:colId xmlns:a16="http://schemas.microsoft.com/office/drawing/2014/main" val="3763391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Administrator </a:t>
                      </a:r>
                      <a:r>
                        <a:rPr lang="en-US" sz="1200" b="1" dirty="0" err="1"/>
                        <a:t>može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upravljati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računima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korisnika</a:t>
                      </a:r>
                      <a:r>
                        <a:rPr lang="en-US" sz="1200" b="1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/>
                        <a:t>Visok</a:t>
                      </a:r>
                      <a:endParaRPr lang="en-US" sz="20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Dokument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zahtjeva</a:t>
                      </a:r>
                      <a:endParaRPr lang="en-US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Administrator </a:t>
                      </a:r>
                      <a:r>
                        <a:rPr lang="en-US" sz="1200" b="1" dirty="0" err="1"/>
                        <a:t>vidi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listu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korisnika</a:t>
                      </a:r>
                      <a:r>
                        <a:rPr lang="en-US" sz="1200" b="1" dirty="0"/>
                        <a:t>, </a:t>
                      </a:r>
                      <a:r>
                        <a:rPr lang="en-US" sz="1200" b="1" dirty="0" err="1"/>
                        <a:t>može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ih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blokirati</a:t>
                      </a:r>
                      <a:r>
                        <a:rPr lang="en-US" sz="1200" b="1" dirty="0"/>
                        <a:t>/</a:t>
                      </a:r>
                      <a:r>
                        <a:rPr lang="en-US" sz="1200" b="1" dirty="0" err="1"/>
                        <a:t>deblokirati</a:t>
                      </a:r>
                      <a:r>
                        <a:rPr lang="en-US" sz="1200" b="1" dirty="0"/>
                        <a:t>, </a:t>
                      </a:r>
                      <a:r>
                        <a:rPr lang="en-US" sz="1200" b="1" dirty="0" err="1"/>
                        <a:t>mijenjati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cijenu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članstva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onemogućiti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iznajmljivanje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opreme</a:t>
                      </a:r>
                      <a:r>
                        <a:rPr lang="en-US" sz="1200" b="1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113327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475506"/>
              </p:ext>
            </p:extLst>
          </p:nvPr>
        </p:nvGraphicFramePr>
        <p:xfrm>
          <a:off x="-73517" y="3059658"/>
          <a:ext cx="8853505" cy="1005840"/>
        </p:xfrm>
        <a:graphic>
          <a:graphicData uri="http://schemas.openxmlformats.org/drawingml/2006/table">
            <a:tbl>
              <a:tblPr/>
              <a:tblGrid>
                <a:gridCol w="1770701">
                  <a:extLst>
                    <a:ext uri="{9D8B030D-6E8A-4147-A177-3AD203B41FA5}">
                      <a16:colId xmlns:a16="http://schemas.microsoft.com/office/drawing/2014/main" val="3791352071"/>
                    </a:ext>
                  </a:extLst>
                </a:gridCol>
                <a:gridCol w="1770701">
                  <a:extLst>
                    <a:ext uri="{9D8B030D-6E8A-4147-A177-3AD203B41FA5}">
                      <a16:colId xmlns:a16="http://schemas.microsoft.com/office/drawing/2014/main" val="2319012483"/>
                    </a:ext>
                  </a:extLst>
                </a:gridCol>
                <a:gridCol w="1770701">
                  <a:extLst>
                    <a:ext uri="{9D8B030D-6E8A-4147-A177-3AD203B41FA5}">
                      <a16:colId xmlns:a16="http://schemas.microsoft.com/office/drawing/2014/main" val="3743226536"/>
                    </a:ext>
                  </a:extLst>
                </a:gridCol>
                <a:gridCol w="1770701">
                  <a:extLst>
                    <a:ext uri="{9D8B030D-6E8A-4147-A177-3AD203B41FA5}">
                      <a16:colId xmlns:a16="http://schemas.microsoft.com/office/drawing/2014/main" val="2648753247"/>
                    </a:ext>
                  </a:extLst>
                </a:gridCol>
                <a:gridCol w="1770701">
                  <a:extLst>
                    <a:ext uri="{9D8B030D-6E8A-4147-A177-3AD203B41FA5}">
                      <a16:colId xmlns:a16="http://schemas.microsoft.com/office/drawing/2014/main" val="4199724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hr-HR" dirty="0" smtClean="0"/>
                    </a:p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/>
                        <a:t>Sustav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omogućuje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klijentu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rezervaciju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plaćanje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odabrane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opreme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pomoću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kartice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ili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Paypal</a:t>
                      </a:r>
                      <a:r>
                        <a:rPr lang="en-US" sz="1200" b="1" dirty="0"/>
                        <a:t>-a.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Visok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Zahtjev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dionika</a:t>
                      </a:r>
                      <a:endParaRPr lang="en-US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/>
                        <a:t>Klijent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odabere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opremu</a:t>
                      </a:r>
                      <a:r>
                        <a:rPr lang="en-US" sz="1200" b="1" dirty="0"/>
                        <a:t>, </a:t>
                      </a:r>
                      <a:r>
                        <a:rPr lang="en-US" sz="1200" b="1" dirty="0" err="1"/>
                        <a:t>razdoblje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način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plaćanja</a:t>
                      </a:r>
                      <a:r>
                        <a:rPr lang="en-US" sz="1200" b="1" dirty="0"/>
                        <a:t> (</a:t>
                      </a:r>
                      <a:r>
                        <a:rPr lang="en-US" sz="1200" b="1" dirty="0" err="1"/>
                        <a:t>kartica</a:t>
                      </a:r>
                      <a:r>
                        <a:rPr lang="en-US" sz="1200" b="1" dirty="0"/>
                        <a:t>/PayPal) </a:t>
                      </a:r>
                      <a:r>
                        <a:rPr lang="en-US" sz="1200" b="1" dirty="0" err="1"/>
                        <a:t>te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primi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potvrdu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rezervacije</a:t>
                      </a:r>
                      <a:endParaRPr lang="en-US" sz="1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62304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63786"/>
              </p:ext>
            </p:extLst>
          </p:nvPr>
        </p:nvGraphicFramePr>
        <p:xfrm>
          <a:off x="1693631" y="4156938"/>
          <a:ext cx="7105904" cy="1188720"/>
        </p:xfrm>
        <a:graphic>
          <a:graphicData uri="http://schemas.openxmlformats.org/drawingml/2006/table">
            <a:tbl>
              <a:tblPr/>
              <a:tblGrid>
                <a:gridCol w="1776476">
                  <a:extLst>
                    <a:ext uri="{9D8B030D-6E8A-4147-A177-3AD203B41FA5}">
                      <a16:colId xmlns:a16="http://schemas.microsoft.com/office/drawing/2014/main" val="1146533454"/>
                    </a:ext>
                  </a:extLst>
                </a:gridCol>
                <a:gridCol w="1776476">
                  <a:extLst>
                    <a:ext uri="{9D8B030D-6E8A-4147-A177-3AD203B41FA5}">
                      <a16:colId xmlns:a16="http://schemas.microsoft.com/office/drawing/2014/main" val="50137190"/>
                    </a:ext>
                  </a:extLst>
                </a:gridCol>
                <a:gridCol w="1776476">
                  <a:extLst>
                    <a:ext uri="{9D8B030D-6E8A-4147-A177-3AD203B41FA5}">
                      <a16:colId xmlns:a16="http://schemas.microsoft.com/office/drawing/2014/main" val="2018705224"/>
                    </a:ext>
                  </a:extLst>
                </a:gridCol>
                <a:gridCol w="1776476">
                  <a:extLst>
                    <a:ext uri="{9D8B030D-6E8A-4147-A177-3AD203B41FA5}">
                      <a16:colId xmlns:a16="http://schemas.microsoft.com/office/drawing/2014/main" val="642262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 err="1"/>
                        <a:t>Sustav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omogućuje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trgovcima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kreiranje</a:t>
                      </a:r>
                      <a:r>
                        <a:rPr lang="en-US" sz="1200" b="1" dirty="0"/>
                        <a:t>, </a:t>
                      </a:r>
                      <a:r>
                        <a:rPr lang="en-US" sz="1200" b="1" dirty="0" err="1"/>
                        <a:t>brisanje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objavu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oglasa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za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iznajmljivanje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opreme</a:t>
                      </a:r>
                      <a:r>
                        <a:rPr lang="en-US" sz="1200" b="1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/>
                        <a:t>Visok</a:t>
                      </a:r>
                      <a:endParaRPr lang="en-US" sz="20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Dokument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zahtjeva</a:t>
                      </a:r>
                      <a:endParaRPr lang="en-US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/>
                        <a:t>Trgovac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može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unijeti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naziv</a:t>
                      </a:r>
                      <a:r>
                        <a:rPr lang="en-US" sz="1200" b="1" dirty="0"/>
                        <a:t>, </a:t>
                      </a:r>
                      <a:r>
                        <a:rPr lang="en-US" sz="1200" b="1" dirty="0" err="1"/>
                        <a:t>opis</a:t>
                      </a:r>
                      <a:r>
                        <a:rPr lang="en-US" sz="1200" b="1" dirty="0"/>
                        <a:t>, </a:t>
                      </a:r>
                      <a:r>
                        <a:rPr lang="en-US" sz="1200" b="1" dirty="0" err="1"/>
                        <a:t>cijenu</a:t>
                      </a:r>
                      <a:r>
                        <a:rPr lang="en-US" sz="1200" b="1" dirty="0"/>
                        <a:t>, </a:t>
                      </a:r>
                      <a:r>
                        <a:rPr lang="en-US" sz="1200" b="1" dirty="0" err="1"/>
                        <a:t>dostupnost</a:t>
                      </a:r>
                      <a:r>
                        <a:rPr lang="en-US" sz="1200" b="1" dirty="0"/>
                        <a:t>, </a:t>
                      </a:r>
                      <a:r>
                        <a:rPr lang="en-US" sz="1200" b="1" dirty="0" err="1"/>
                        <a:t>lokaciju</a:t>
                      </a:r>
                      <a:r>
                        <a:rPr lang="en-US" sz="1200" b="1" dirty="0"/>
                        <a:t>, </a:t>
                      </a:r>
                      <a:r>
                        <a:rPr lang="en-US" sz="1200" b="1" dirty="0" err="1"/>
                        <a:t>sliku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razdoblje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dostupnosti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opreme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te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spremiti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oglas</a:t>
                      </a:r>
                      <a:r>
                        <a:rPr lang="en-US" sz="1200" b="1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841017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118997" y="4231287"/>
            <a:ext cx="88245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69102" y="1943079"/>
            <a:ext cx="87744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9102" y="3059658"/>
            <a:ext cx="87744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/>
          <p:cNvSpPr txBox="1">
            <a:spLocks/>
          </p:cNvSpPr>
          <p:nvPr/>
        </p:nvSpPr>
        <p:spPr>
          <a:xfrm>
            <a:off x="71999" y="2618755"/>
            <a:ext cx="9000000" cy="568800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r-HR" sz="2000" b="1" dirty="0" smtClean="0"/>
          </a:p>
          <a:p>
            <a:r>
              <a:rPr lang="hr-HR" sz="2000" b="1" dirty="0" smtClean="0"/>
              <a:t>F-006</a:t>
            </a:r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/>
              <a:t>Pregled </a:t>
            </a:r>
            <a:r>
              <a:rPr lang="hr-HR" dirty="0" smtClean="0"/>
              <a:t>NEFUNKCIJSKIH zahtjeva i zahtjeva domena primjene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/>
          <a:p>
            <a:r>
              <a:rPr lang="hr-HR" noProof="0" dirty="0" smtClean="0"/>
              <a:t>Korisničko iskustvo:</a:t>
            </a:r>
          </a:p>
          <a:p>
            <a:endParaRPr lang="hr-HR" noProof="0" dirty="0" smtClean="0"/>
          </a:p>
          <a:p>
            <a:r>
              <a:rPr lang="hr-HR" dirty="0"/>
              <a:t>Pouzdanost</a:t>
            </a:r>
            <a:r>
              <a:rPr lang="hr-HR" dirty="0" smtClean="0"/>
              <a:t>Standardi kvalitete:</a:t>
            </a:r>
          </a:p>
          <a:p>
            <a:endParaRPr lang="hr-HR" dirty="0" smtClean="0"/>
          </a:p>
          <a:p>
            <a:r>
              <a:rPr lang="hr-HR" dirty="0"/>
              <a:t>Standardi </a:t>
            </a:r>
            <a:r>
              <a:rPr lang="hr-HR" dirty="0" smtClean="0"/>
              <a:t>kvalitete:</a:t>
            </a:r>
            <a:endParaRPr lang="hr-HR" noProof="0" dirty="0"/>
          </a:p>
          <a:p>
            <a:endParaRPr lang="hr-HR" noProof="0" dirty="0"/>
          </a:p>
          <a:p>
            <a:r>
              <a:rPr lang="hr-HR" noProof="0" dirty="0" smtClean="0"/>
              <a:t>Pouzdanost:</a:t>
            </a:r>
            <a:endParaRPr lang="hr-HR" i="1" dirty="0"/>
          </a:p>
          <a:p>
            <a:pPr marL="0" indent="0">
              <a:buNone/>
            </a:pPr>
            <a:endParaRPr lang="hr-HR" noProof="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145738"/>
              </p:ext>
            </p:extLst>
          </p:nvPr>
        </p:nvGraphicFramePr>
        <p:xfrm>
          <a:off x="409638" y="1256631"/>
          <a:ext cx="9001125" cy="73152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31373268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30483558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1491183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/>
                        <a:t>NF-UX-001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dirty="0" err="1"/>
                        <a:t>Sustav</a:t>
                      </a:r>
                      <a:r>
                        <a:rPr lang="en-US" sz="1400" b="1" dirty="0"/>
                        <a:t> mora </a:t>
                      </a:r>
                      <a:r>
                        <a:rPr lang="en-US" sz="1400" b="1" dirty="0" err="1"/>
                        <a:t>biti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responzivan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i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funkcionalan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na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mobilnim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i</a:t>
                      </a:r>
                      <a:r>
                        <a:rPr lang="en-US" sz="1400" b="1" dirty="0"/>
                        <a:t> desktop </a:t>
                      </a:r>
                      <a:r>
                        <a:rPr lang="en-US" sz="1400" b="1" dirty="0" err="1"/>
                        <a:t>uređajima</a:t>
                      </a:r>
                      <a:r>
                        <a:rPr lang="en-US" sz="1400" b="1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dirty="0" err="1"/>
                        <a:t>Visok</a:t>
                      </a:r>
                      <a:endParaRPr lang="en-US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45647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272053"/>
              </p:ext>
            </p:extLst>
          </p:nvPr>
        </p:nvGraphicFramePr>
        <p:xfrm>
          <a:off x="409638" y="2446178"/>
          <a:ext cx="9001125" cy="51816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435680357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46290854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300824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 smtClean="0"/>
                        <a:t>NF-</a:t>
                      </a:r>
                      <a:r>
                        <a:rPr lang="en-US" sz="1400" b="1" dirty="0" err="1" smtClean="0"/>
                        <a:t>REL</a:t>
                      </a:r>
                      <a:r>
                        <a:rPr lang="en-US" sz="1400" b="1" dirty="0" smtClean="0"/>
                        <a:t>-002</a:t>
                      </a:r>
                      <a:endParaRPr lang="en-US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dirty="0" err="1"/>
                        <a:t>Sustav</a:t>
                      </a:r>
                      <a:r>
                        <a:rPr lang="en-US" sz="1400" b="1" dirty="0"/>
                        <a:t> mora </a:t>
                      </a:r>
                      <a:r>
                        <a:rPr lang="en-US" sz="1400" b="1" dirty="0" err="1"/>
                        <a:t>imati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dostupnost</a:t>
                      </a:r>
                      <a:r>
                        <a:rPr lang="en-US" sz="1400" b="1" dirty="0"/>
                        <a:t> od </a:t>
                      </a:r>
                      <a:r>
                        <a:rPr lang="en-US" sz="1400" b="1" dirty="0" err="1"/>
                        <a:t>najmanje</a:t>
                      </a:r>
                      <a:r>
                        <a:rPr lang="en-US" sz="1400" b="1" dirty="0"/>
                        <a:t> 99% </a:t>
                      </a:r>
                      <a:r>
                        <a:rPr lang="en-US" sz="1400" b="1" dirty="0" err="1"/>
                        <a:t>godišnje</a:t>
                      </a:r>
                      <a:r>
                        <a:rPr lang="en-US" sz="1400" b="1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dirty="0" err="1"/>
                        <a:t>Visok</a:t>
                      </a:r>
                      <a:endParaRPr lang="en-US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16188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15576"/>
              </p:ext>
            </p:extLst>
          </p:nvPr>
        </p:nvGraphicFramePr>
        <p:xfrm>
          <a:off x="409640" y="3306240"/>
          <a:ext cx="9001125" cy="73152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18149812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3088668024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812973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/>
                        <a:t>NF-</a:t>
                      </a:r>
                      <a:r>
                        <a:rPr lang="en-US" sz="1400" b="1" dirty="0" err="1"/>
                        <a:t>QUAL</a:t>
                      </a:r>
                      <a:r>
                        <a:rPr lang="en-US" sz="1400" b="1" dirty="0"/>
                        <a:t>-001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Sustav</a:t>
                      </a:r>
                      <a:r>
                        <a:rPr lang="en-US" sz="1400" b="1" dirty="0"/>
                        <a:t> mora </a:t>
                      </a:r>
                      <a:r>
                        <a:rPr lang="en-US" sz="1400" b="1" dirty="0" err="1"/>
                        <a:t>podržavati</a:t>
                      </a:r>
                      <a:r>
                        <a:rPr lang="en-US" sz="1400" b="1" dirty="0"/>
                        <a:t> OAuth 2.0 </a:t>
                      </a:r>
                      <a:r>
                        <a:rPr lang="en-US" sz="1400" b="1" dirty="0" err="1"/>
                        <a:t>autentifikaciju</a:t>
                      </a:r>
                      <a:r>
                        <a:rPr lang="en-US" sz="1400" b="1" dirty="0"/>
                        <a:t> s </a:t>
                      </a:r>
                      <a:r>
                        <a:rPr lang="en-US" sz="1400" b="1" dirty="0" err="1"/>
                        <a:t>vanjskim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servisima</a:t>
                      </a:r>
                      <a:r>
                        <a:rPr lang="en-US" sz="1400" b="1" dirty="0"/>
                        <a:t> (</a:t>
                      </a:r>
                      <a:r>
                        <a:rPr lang="en-US" sz="1400" b="1" dirty="0" err="1"/>
                        <a:t>npr</a:t>
                      </a:r>
                      <a:r>
                        <a:rPr lang="en-US" sz="1400" b="1" dirty="0"/>
                        <a:t>. Google).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Visok</a:t>
                      </a:r>
                      <a:endParaRPr lang="en-US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9591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321073"/>
              </p:ext>
            </p:extLst>
          </p:nvPr>
        </p:nvGraphicFramePr>
        <p:xfrm>
          <a:off x="409637" y="4427640"/>
          <a:ext cx="9001125" cy="51816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442100328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1717046755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1165243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/>
                        <a:t>NF-</a:t>
                      </a:r>
                      <a:r>
                        <a:rPr lang="en-US" sz="1400" b="1" dirty="0" err="1"/>
                        <a:t>REL</a:t>
                      </a:r>
                      <a:r>
                        <a:rPr lang="en-US" sz="1400" b="1" dirty="0"/>
                        <a:t>-002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Sustav</a:t>
                      </a:r>
                      <a:r>
                        <a:rPr lang="en-US" sz="1400" b="1" dirty="0"/>
                        <a:t> mora </a:t>
                      </a:r>
                      <a:r>
                        <a:rPr lang="en-US" sz="1400" b="1" dirty="0" err="1"/>
                        <a:t>imati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dostupnost</a:t>
                      </a:r>
                      <a:r>
                        <a:rPr lang="en-US" sz="1400" b="1" dirty="0"/>
                        <a:t> od </a:t>
                      </a:r>
                      <a:r>
                        <a:rPr lang="en-US" sz="1400" b="1" dirty="0" err="1"/>
                        <a:t>najmanje</a:t>
                      </a:r>
                      <a:r>
                        <a:rPr lang="en-US" sz="1400" b="1" dirty="0"/>
                        <a:t> 99% </a:t>
                      </a:r>
                      <a:r>
                        <a:rPr lang="en-US" sz="1400" b="1" dirty="0" err="1"/>
                        <a:t>godišnje</a:t>
                      </a:r>
                      <a:r>
                        <a:rPr lang="en-US" sz="1400" b="1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Visok</a:t>
                      </a:r>
                      <a:endParaRPr lang="en-US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24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215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1026" name="Picture 2" descr="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99" y="740523"/>
            <a:ext cx="7343656" cy="5904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99" y="1185154"/>
            <a:ext cx="7579702" cy="499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 smtClean="0"/>
              <a:t>ARHITEKTURA SUSTAVA</a:t>
            </a: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74" y="1076447"/>
            <a:ext cx="8495225" cy="488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Organizacija ispitivanja</a:t>
            </a:r>
          </a:p>
          <a:p>
            <a:r>
              <a:rPr lang="hr-HR" noProof="0" dirty="0"/>
              <a:t>Fokus ispitivanja. Potpunost ispitivanja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467177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 smtClean="0"/>
              <a:t>Programski jezici: Java 17, JavaScript ES2020</a:t>
            </a:r>
            <a:endParaRPr lang="hr-HR" noProof="0" dirty="0"/>
          </a:p>
          <a:p>
            <a:r>
              <a:rPr lang="hr-HR" noProof="0" dirty="0" smtClean="0"/>
              <a:t>Radni okviri: Spring Boot , React 19</a:t>
            </a:r>
          </a:p>
          <a:p>
            <a:r>
              <a:rPr lang="hr-HR" noProof="0" dirty="0" smtClean="0"/>
              <a:t>Baza podataka: PostgreSQL 18</a:t>
            </a:r>
          </a:p>
          <a:p>
            <a:r>
              <a:rPr lang="hr-HR" noProof="0" dirty="0" smtClean="0"/>
              <a:t>Editori koda: Eclipse, IntelliJ IDEA 2025, VS Code</a:t>
            </a:r>
          </a:p>
          <a:p>
            <a:r>
              <a:rPr lang="hr-HR" dirty="0" smtClean="0"/>
              <a:t>Alati za ispitivanje: MockitoMvc, Playwright</a:t>
            </a:r>
          </a:p>
          <a:p>
            <a:r>
              <a:rPr lang="hr-HR" noProof="0" dirty="0" smtClean="0"/>
              <a:t>Cloud platforma: Render 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Neprogramski (organizacijski) zadaci</a:t>
            </a:r>
          </a:p>
          <a:p>
            <a:pPr lvl="1"/>
            <a:r>
              <a:rPr lang="hr-HR" noProof="0" dirty="0"/>
              <a:t>Organizacija </a:t>
            </a:r>
            <a:r>
              <a:rPr lang="hr-HR" noProof="0" dirty="0" smtClean="0"/>
              <a:t>komunikacije: Whatsapp, Discord</a:t>
            </a:r>
          </a:p>
          <a:p>
            <a:pPr lvl="1"/>
            <a:r>
              <a:rPr lang="hr-HR" noProof="0" dirty="0" smtClean="0"/>
              <a:t>GitHub iskustvo: limitirano</a:t>
            </a:r>
            <a:endParaRPr lang="hr-HR" noProof="0" dirty="0"/>
          </a:p>
          <a:p>
            <a:pPr lvl="1"/>
            <a:r>
              <a:rPr lang="hr-HR" noProof="0" dirty="0"/>
              <a:t>Primijenjeni model životnog </a:t>
            </a:r>
            <a:r>
              <a:rPr lang="hr-HR" noProof="0" dirty="0" smtClean="0"/>
              <a:t>ciklusa: Inkrementalni pristup</a:t>
            </a:r>
            <a:endParaRPr lang="hr-HR" noProof="0" dirty="0"/>
          </a:p>
          <a:p>
            <a:r>
              <a:rPr lang="hr-HR" noProof="0" dirty="0" smtClean="0"/>
              <a:t>Vremenski </a:t>
            </a:r>
            <a:r>
              <a:rPr lang="hr-HR" noProof="0" dirty="0"/>
              <a:t>okvir </a:t>
            </a:r>
            <a:r>
              <a:rPr lang="hr-HR" noProof="0" dirty="0" smtClean="0"/>
              <a:t>razvoja(u satima):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2345474782"/>
              </p:ext>
            </p:extLst>
          </p:nvPr>
        </p:nvGraphicFramePr>
        <p:xfrm>
          <a:off x="189976" y="3103974"/>
          <a:ext cx="5014588" cy="2956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65" y="6081487"/>
            <a:ext cx="6534150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Naučene lekcije</a:t>
            </a:r>
          </a:p>
          <a:p>
            <a:pPr lvl="1"/>
            <a:r>
              <a:rPr lang="hr-HR" noProof="0" dirty="0" smtClean="0"/>
              <a:t>Problemi s organizacijom</a:t>
            </a:r>
          </a:p>
          <a:p>
            <a:pPr lvl="2"/>
            <a:r>
              <a:rPr lang="hr-HR" dirty="0" smtClean="0"/>
              <a:t>WhatsApp – jedan tekst kanal, jedina opcija za vidjeti prethodne poruke je „scrollanje”</a:t>
            </a:r>
          </a:p>
          <a:p>
            <a:pPr lvl="2"/>
            <a:r>
              <a:rPr lang="hr-HR" noProof="0" dirty="0" smtClean="0"/>
              <a:t>Vremenska neusklađenost – svaki član tima je mogao raditi/biti dostupan u različito vrijeme</a:t>
            </a:r>
            <a:endParaRPr lang="hr-HR" noProof="0" dirty="0"/>
          </a:p>
          <a:p>
            <a:pPr lvl="1"/>
            <a:r>
              <a:rPr lang="hr-HR" dirty="0" smtClean="0">
                <a:sym typeface="Wingdings" panose="05000000000000000000" pitchFamily="2" charset="2"/>
              </a:rPr>
              <a:t>Upoznavanje s novim sustavima</a:t>
            </a:r>
          </a:p>
          <a:p>
            <a:pPr lvl="2"/>
            <a:r>
              <a:rPr lang="en-US" dirty="0" err="1"/>
              <a:t>Članovi</a:t>
            </a:r>
            <a:r>
              <a:rPr lang="en-US" dirty="0"/>
              <a:t> </a:t>
            </a:r>
            <a:r>
              <a:rPr lang="en-US" dirty="0" err="1"/>
              <a:t>tima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usvojili</a:t>
            </a:r>
            <a:r>
              <a:rPr lang="en-US" dirty="0"/>
              <a:t> nova </a:t>
            </a:r>
            <a:r>
              <a:rPr lang="en-US" dirty="0" err="1"/>
              <a:t>znanja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razvoja</a:t>
            </a:r>
            <a:r>
              <a:rPr lang="en-US" dirty="0"/>
              <a:t> web </a:t>
            </a:r>
            <a:r>
              <a:rPr lang="en-US" dirty="0" err="1"/>
              <a:t>aplikacija</a:t>
            </a:r>
            <a:r>
              <a:rPr lang="en-US" dirty="0"/>
              <a:t>, </a:t>
            </a:r>
            <a:r>
              <a:rPr lang="en-US" dirty="0" err="1"/>
              <a:t>dizajna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oblikovanja</a:t>
            </a:r>
            <a:r>
              <a:rPr lang="en-US" dirty="0"/>
              <a:t> </a:t>
            </a:r>
            <a:r>
              <a:rPr lang="en-US" dirty="0" err="1"/>
              <a:t>korisničkih</a:t>
            </a:r>
            <a:r>
              <a:rPr lang="en-US" dirty="0"/>
              <a:t> </a:t>
            </a:r>
            <a:r>
              <a:rPr lang="en-US" dirty="0" err="1"/>
              <a:t>sučelja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uporabe</a:t>
            </a:r>
            <a:r>
              <a:rPr lang="en-US" dirty="0"/>
              <a:t> </a:t>
            </a:r>
            <a:r>
              <a:rPr lang="en-US" dirty="0" err="1"/>
              <a:t>suvremenih</a:t>
            </a:r>
            <a:r>
              <a:rPr lang="en-US" dirty="0"/>
              <a:t> </a:t>
            </a:r>
            <a:r>
              <a:rPr lang="en-US" dirty="0" err="1"/>
              <a:t>razvojnih</a:t>
            </a:r>
            <a:r>
              <a:rPr lang="en-US" dirty="0"/>
              <a:t> </a:t>
            </a:r>
            <a:r>
              <a:rPr lang="en-US" dirty="0" err="1"/>
              <a:t>alata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tehnologija</a:t>
            </a:r>
            <a:r>
              <a:rPr lang="en-US" dirty="0"/>
              <a:t>.</a:t>
            </a:r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318" y="1946219"/>
            <a:ext cx="7920000" cy="828262"/>
          </a:xfrm>
        </p:spPr>
        <p:txBody>
          <a:bodyPr>
            <a:noAutofit/>
          </a:bodyPr>
          <a:lstStyle/>
          <a:p>
            <a:r>
              <a:rPr lang="hr-HR" sz="6600" i="1" u="sng" noProof="0" dirty="0" smtClean="0"/>
              <a:t>HVALA NA POZORNOSTI!</a:t>
            </a:r>
            <a:endParaRPr lang="hr-HR" sz="6600" i="1" u="sng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41737146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1412</TotalTime>
  <Words>550</Words>
  <Application>Microsoft Office PowerPoint</Application>
  <PresentationFormat>On-screen Show (4:3)</PresentationFormat>
  <Paragraphs>127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GEARSHARE</vt:lpstr>
      <vt:lpstr>Sadržaj</vt:lpstr>
      <vt:lpstr>Sadržaj</vt:lpstr>
      <vt:lpstr>Članovi grupe</vt:lpstr>
      <vt:lpstr>O projektu</vt:lpstr>
      <vt:lpstr>Pregled GLAVNIH FUNKCIJSKIH zahtjeva</vt:lpstr>
      <vt:lpstr>Pregled NEFUNKCIJSKIH zahtjeva i zahtjeva domena primjene</vt:lpstr>
      <vt:lpstr>UML dijagram obrazaca uporabe</vt:lpstr>
      <vt:lpstr>Arhitektura sustava</vt:lpstr>
      <vt:lpstr>ARHITEKTURA SUSTAVA</vt:lpstr>
      <vt:lpstr>Ispitivanje</vt:lpstr>
      <vt:lpstr>Korišteni alati i tehnologije</vt:lpstr>
      <vt:lpstr>Organizacija rada</vt:lpstr>
      <vt:lpstr>Zaključak</vt:lpstr>
      <vt:lpstr>HVALA NA POZORNOSTI!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Potjeh</cp:lastModifiedBy>
  <cp:revision>37</cp:revision>
  <dcterms:created xsi:type="dcterms:W3CDTF">2016-01-18T13:10:52Z</dcterms:created>
  <dcterms:modified xsi:type="dcterms:W3CDTF">2026-01-23T22:58:05Z</dcterms:modified>
</cp:coreProperties>
</file>